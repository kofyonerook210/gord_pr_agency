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</p:sldMasterIdLst>
  <p:notesMasterIdLst>
    <p:notesMasterId r:id="rId18"/>
  </p:notesMasterIdLst>
  <p:sldIdLst>
    <p:sldId id="347" r:id="rId2"/>
    <p:sldId id="257" r:id="rId3"/>
    <p:sldId id="348" r:id="rId4"/>
    <p:sldId id="259" r:id="rId5"/>
    <p:sldId id="349" r:id="rId6"/>
    <p:sldId id="350" r:id="rId7"/>
    <p:sldId id="351" r:id="rId8"/>
    <p:sldId id="270" r:id="rId9"/>
    <p:sldId id="271" r:id="rId10"/>
    <p:sldId id="353" r:id="rId11"/>
    <p:sldId id="355" r:id="rId12"/>
    <p:sldId id="356" r:id="rId13"/>
    <p:sldId id="283" r:id="rId14"/>
    <p:sldId id="357" r:id="rId15"/>
    <p:sldId id="358" r:id="rId16"/>
    <p:sldId id="346" r:id="rId17"/>
  </p:sldIdLst>
  <p:sldSz cx="9144000" cy="5143500" type="screen16x9"/>
  <p:notesSz cx="5143500" cy="9144000"/>
  <p:embeddedFontLst>
    <p:embeddedFont>
      <p:font typeface="Geologica" pitchFamily="2" charset="0"/>
      <p:regular r:id="rId19"/>
      <p:bold r:id="rId20"/>
    </p:embeddedFont>
    <p:embeddedFont>
      <p:font typeface="Geologica ExtraLight" pitchFamily="2" charset="0"/>
      <p:regular r:id="rId21"/>
      <p:bold r:id="rId22"/>
    </p:embeddedFont>
    <p:embeddedFont>
      <p:font typeface="Helvetica Neue" panose="02000503040000020004" pitchFamily="50" charset="-52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AFB1DFA-13AA-4F39-A942-90BCB2D5D1B1}">
          <p14:sldIdLst>
            <p14:sldId id="347"/>
          </p14:sldIdLst>
        </p14:section>
        <p14:section name="Результаты" id="{6605F440-1AA5-49EA-9D44-FA2399415B7C}">
          <p14:sldIdLst>
            <p14:sldId id="257"/>
          </p14:sldIdLst>
        </p14:section>
        <p14:section name="Личные бренды" id="{F82B968F-0B3A-409C-875F-711ADE4A7F49}">
          <p14:sldIdLst>
            <p14:sldId id="348"/>
            <p14:sldId id="259"/>
          </p14:sldIdLst>
        </p14:section>
        <p14:section name="Проект" id="{7D772048-5AFA-46AC-8BF2-512A90B899E8}">
          <p14:sldIdLst>
            <p14:sldId id="349"/>
            <p14:sldId id="350"/>
          </p14:sldIdLst>
        </p14:section>
        <p14:section name="Пресс-релиз" id="{9678A501-C461-4FFC-ACAB-E951C697104E}">
          <p14:sldIdLst>
            <p14:sldId id="351"/>
          </p14:sldIdLst>
        </p14:section>
        <p14:section name="Road map" id="{3FBB6CFB-BA6F-41D5-A395-E5563A72FCEC}">
          <p14:sldIdLst>
            <p14:sldId id="270"/>
          </p14:sldIdLst>
        </p14:section>
        <p14:section name="Блогеры" id="{74008DA9-938C-49AD-B12B-FCE5F4072498}">
          <p14:sldIdLst>
            <p14:sldId id="271"/>
          </p14:sldIdLst>
        </p14:section>
        <p14:section name="AVE/OTS" id="{C6CD7A7A-C26B-4ECA-9927-CCB8508080F7}">
          <p14:sldIdLst>
            <p14:sldId id="353"/>
            <p14:sldId id="355"/>
            <p14:sldId id="356"/>
          </p14:sldIdLst>
        </p14:section>
        <p14:section name="Публикации в СМИ" id="{4FBEE002-AF3A-4B37-B1A1-B4CEF4040CFB}">
          <p14:sldIdLst>
            <p14:sldId id="283"/>
          </p14:sldIdLst>
        </p14:section>
        <p14:section name="Публикация в ТГ" id="{B07938A8-9DFB-4D90-9014-FCF7A3BE335E}">
          <p14:sldIdLst>
            <p14:sldId id="357"/>
          </p14:sldIdLst>
        </p14:section>
        <p14:section name="Публикация в INST" id="{49F20420-6CCA-4CA5-8CC9-8117467AE8BE}">
          <p14:sldIdLst>
            <p14:sldId id="358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D322D-C15E-4D3E-8885-CCCE166E60A2}">
  <a:tblStyle styleId="{572D322D-C15E-4D3E-8885-CCCE166E60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90" d="100"/>
          <a:sy n="90" d="100"/>
        </p:scale>
        <p:origin x="1248" y="7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c743560d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g3c743560dd2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g3c743560dd2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2749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a653b0432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g3a653b04322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g3a653b04322_0_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705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888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76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53b04322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g3a653b04322_0_10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a653b04322_0_10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63358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861f59ef4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g3c861f59ef4_0_1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c861f59ef4_0_1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0051738ea_0_10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g3d0051738ea_0_108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3d0051738ea_0_108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62577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1340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7fbc59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g3c7fbc59eea_0_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c7fbc59eea_0_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12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4961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0513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7d2018e0b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7d2018e0b_0_54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g3b7d2018e0b_0_54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15</a:t>
            </a:fld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91032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g3b37e8b61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0" name="Google Shape;1910;g3b37e8b611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1" name="Google Shape;1911;g3b37e8b611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1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sz="11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100"/>
            </a:lvl1pPr>
            <a:lvl2pPr marL="0" lvl="1" indent="0" algn="r">
              <a:spcBef>
                <a:spcPts val="0"/>
              </a:spcBef>
              <a:buNone/>
              <a:defRPr sz="1100"/>
            </a:lvl2pPr>
            <a:lvl3pPr marL="0" lvl="2" indent="0" algn="r">
              <a:spcBef>
                <a:spcPts val="0"/>
              </a:spcBef>
              <a:buNone/>
              <a:defRPr sz="1100"/>
            </a:lvl3pPr>
            <a:lvl4pPr marL="0" lvl="3" indent="0" algn="r">
              <a:spcBef>
                <a:spcPts val="0"/>
              </a:spcBef>
              <a:buNone/>
              <a:defRPr sz="1100"/>
            </a:lvl4pPr>
            <a:lvl5pPr marL="0" lvl="4" indent="0" algn="r">
              <a:spcBef>
                <a:spcPts val="0"/>
              </a:spcBef>
              <a:buNone/>
              <a:defRPr sz="1100"/>
            </a:lvl5pPr>
            <a:lvl6pPr marL="0" lvl="5" indent="0" algn="r">
              <a:spcBef>
                <a:spcPts val="0"/>
              </a:spcBef>
              <a:buNone/>
              <a:defRPr sz="1100"/>
            </a:lvl6pPr>
            <a:lvl7pPr marL="0" lvl="6" indent="0" algn="r">
              <a:spcBef>
                <a:spcPts val="0"/>
              </a:spcBef>
              <a:buNone/>
              <a:defRPr sz="1100"/>
            </a:lvl7pPr>
            <a:lvl8pPr marL="0" lvl="7" indent="0" algn="r">
              <a:spcBef>
                <a:spcPts val="0"/>
              </a:spcBef>
              <a:buNone/>
              <a:defRPr sz="1100"/>
            </a:lvl8pPr>
            <a:lvl9pPr marL="0" lvl="8" indent="0" algn="r">
              <a:spcBef>
                <a:spcPts val="0"/>
              </a:spcBef>
              <a:buNone/>
              <a:defRPr sz="11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F0BA7E8-8F5C-7C81-E130-F9F14BC9B94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Google Shape;18;p4"/>
          <p:cNvSpPr/>
          <p:nvPr/>
        </p:nvSpPr>
        <p:spPr>
          <a:xfrm>
            <a:off x="-125475" y="2374425"/>
            <a:ext cx="94002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GORD AGENCY x </a:t>
            </a:r>
            <a:r>
              <a:rPr lang="ru-RU" sz="4000" b="1" dirty="0">
                <a:solidFill>
                  <a:srgbClr val="D82310"/>
                </a:solidFill>
                <a:latin typeface="Geologica"/>
                <a:ea typeface="Geologica"/>
                <a:cs typeface="Geologica"/>
                <a:sym typeface="Geologica"/>
              </a:rPr>
              <a:t>ХХХ</a:t>
            </a:r>
            <a:endParaRPr sz="4000" b="1" i="0" u="none" strike="noStrike" cap="none" dirty="0">
              <a:solidFill>
                <a:srgbClr val="D82310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2434790" y="295505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2026 – </a:t>
            </a: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2026</a:t>
            </a:r>
            <a:endParaRPr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5574150" y="4741728"/>
            <a:ext cx="34227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SINCE 2022</a:t>
            </a:r>
            <a:endParaRPr sz="80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8218395" y="215400"/>
            <a:ext cx="732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8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800" b="0" i="0" u="none" strike="noStrike" cap="none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34D7B-B00C-369F-3DBB-20A6C10034CC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27190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B996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6">
            <a:extLst>
              <a:ext uri="{FF2B5EF4-FFF2-40B4-BE49-F238E27FC236}">
                <a16:creationId xmlns:a16="http://schemas.microsoft.com/office/drawing/2014/main" id="{B3EDCFC1-8AAE-EB11-366C-5013C7F548E5}"/>
              </a:ext>
            </a:extLst>
          </p:cNvPr>
          <p:cNvSpPr/>
          <p:nvPr/>
        </p:nvSpPr>
        <p:spPr>
          <a:xfrm>
            <a:off x="4760188" y="779208"/>
            <a:ext cx="4238701" cy="399811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F3A29-69A5-E436-CBA7-84365765B0B7}"/>
              </a:ext>
            </a:extLst>
          </p:cNvPr>
          <p:cNvSpPr txBox="1"/>
          <p:nvPr/>
        </p:nvSpPr>
        <p:spPr>
          <a:xfrm>
            <a:off x="4760188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  <p:sp>
        <p:nvSpPr>
          <p:cNvPr id="28" name="Google Shape;28;p5"/>
          <p:cNvSpPr/>
          <p:nvPr/>
        </p:nvSpPr>
        <p:spPr>
          <a:xfrm>
            <a:off x="8052304" y="214313"/>
            <a:ext cx="900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GORDPR.RU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8409492" y="4829175"/>
            <a:ext cx="543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endParaRPr sz="600">
              <a:solidFill>
                <a:srgbClr val="100E09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202</a:t>
            </a:r>
            <a:r>
              <a:rPr lang="ru-RU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93423" y="976090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0323" y="3542264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87350" y="415363"/>
            <a:ext cx="39597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1800"/>
              <a:buFont typeface="Geologica"/>
              <a:buNone/>
            </a:pPr>
            <a:r>
              <a:rPr lang="en-US" sz="22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РЕЗУЛЬТАТЫ</a:t>
            </a:r>
            <a:endParaRPr sz="22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01356" y="4829175"/>
            <a:ext cx="11466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00E09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 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905646" y="195140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905646" y="2205637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6894064" y="155047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0" name="Google Shape;40;p5"/>
          <p:cNvSpPr/>
          <p:nvPr/>
        </p:nvSpPr>
        <p:spPr>
          <a:xfrm>
            <a:off x="4991802" y="3265568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991805" y="3534719"/>
            <a:ext cx="2005200" cy="1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4988927" y="2864635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3" name="Google Shape;43;p5"/>
          <p:cNvSpPr/>
          <p:nvPr/>
        </p:nvSpPr>
        <p:spPr>
          <a:xfrm>
            <a:off x="481862" y="429644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PR-value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468576" y="3674282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>
              <a:lnSpc>
                <a:spcPct val="104166"/>
              </a:lnSpc>
            </a:pPr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  <a:r>
              <a:rPr lang="ru-RU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 </a:t>
            </a:r>
            <a:r>
              <a:rPr lang="en-US" sz="2678" b="1" dirty="0" err="1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руб</a:t>
            </a:r>
            <a:r>
              <a:rPr lang="en-US" sz="2678" b="1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.</a:t>
            </a:r>
          </a:p>
        </p:txBody>
      </p:sp>
      <p:sp>
        <p:nvSpPr>
          <p:cNvPr id="45" name="Google Shape;45;p5"/>
          <p:cNvSpPr/>
          <p:nvPr/>
        </p:nvSpPr>
        <p:spPr>
          <a:xfrm>
            <a:off x="481869" y="4086821"/>
            <a:ext cx="14772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ВЫГОДА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81862" y="2996833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СМИ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68576" y="2374673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48" name="Google Shape;48;p5"/>
          <p:cNvSpPr/>
          <p:nvPr/>
        </p:nvSpPr>
        <p:spPr>
          <a:xfrm>
            <a:off x="481876" y="2787209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10% ОТ ОХВАТА</a:t>
            </a:r>
            <a:endParaRPr sz="1307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05075" y="2158225"/>
            <a:ext cx="18891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во всех медиа за месяц</a:t>
            </a:r>
            <a:endParaRPr sz="1307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991801" y="1536075"/>
            <a:ext cx="16527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51" name="Google Shape;51;p5"/>
          <p:cNvSpPr/>
          <p:nvPr/>
        </p:nvSpPr>
        <p:spPr>
          <a:xfrm>
            <a:off x="5005086" y="1948605"/>
            <a:ext cx="17289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УПОМИНАНИЙ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909492" y="3264862"/>
            <a:ext cx="1405800" cy="1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"/>
              <a:buNone/>
            </a:pPr>
            <a:r>
              <a:rPr lang="en-US" sz="1244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ПУБЛИКАЦИЙ</a:t>
            </a:r>
            <a:endParaRPr sz="1244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909492" y="3534546"/>
            <a:ext cx="2005200" cy="1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1"/>
              <a:buFont typeface="Geologica ExtraLight"/>
              <a:buNone/>
            </a:pPr>
            <a:r>
              <a:rPr lang="en-US" sz="1244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INST</a:t>
            </a:r>
            <a:endParaRPr sz="1244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901763" y="2848488"/>
            <a:ext cx="1561200" cy="2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950" tIns="55450" rIns="110950" bIns="55450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59" name="Google Shape;59;p5"/>
          <p:cNvSpPr/>
          <p:nvPr/>
        </p:nvSpPr>
        <p:spPr>
          <a:xfrm>
            <a:off x="11247151" y="1763415"/>
            <a:ext cx="1652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"/>
              <a:buFont typeface="Geologica ExtraLight"/>
              <a:buNone/>
            </a:pPr>
            <a:r>
              <a:rPr lang="en-US" sz="925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в ТГ</a:t>
            </a:r>
            <a:endParaRPr sz="925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90323" y="2254628"/>
            <a:ext cx="30000" cy="104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6600" tIns="116600" rIns="116600" bIns="1166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81862" y="1724912"/>
            <a:ext cx="2181000" cy="1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2"/>
              <a:buFont typeface="Geologica ExtraLight"/>
              <a:buNone/>
            </a:pP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за</a:t>
            </a:r>
            <a:r>
              <a:rPr lang="en-US" sz="1307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 </a:t>
            </a:r>
            <a:r>
              <a:rPr lang="en-US" sz="1307" dirty="0" err="1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месяц</a:t>
            </a:r>
            <a:endParaRPr sz="1307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68576" y="1102751"/>
            <a:ext cx="37755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algn="l"/>
            <a:r>
              <a:rPr lang="ru-RU" sz="28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67" name="Google Shape;67;p5"/>
          <p:cNvSpPr/>
          <p:nvPr/>
        </p:nvSpPr>
        <p:spPr>
          <a:xfrm>
            <a:off x="481876" y="1515288"/>
            <a:ext cx="1817400" cy="1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00" tIns="58275" rIns="116600" bIns="58275" anchor="ctr" anchorCtr="0">
            <a:noAutofit/>
          </a:bodyPr>
          <a:lstStyle/>
          <a:p>
            <a:pPr marL="0" marR="0" lvl="0" indent="0" algn="l" rtl="0">
              <a:lnSpc>
                <a:spcPct val="11006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2"/>
              <a:buFont typeface="Geologica"/>
              <a:buNone/>
            </a:pPr>
            <a:r>
              <a:rPr lang="en-US" sz="1307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ОБЩИЙ ОХВАТ</a:t>
            </a:r>
            <a:endParaRPr sz="1307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13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ЛИЧНЫЕ БРЕНДЫ</a:t>
            </a:r>
            <a:endParaRPr sz="13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43213-2E2A-8449-1B3F-198381DA9BAB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</a:pPr>
            <a:r>
              <a:rPr lang="ru-RU" sz="12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endParaRPr sz="12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FFFFF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67C77E75-3496-688C-54E7-9216134E0890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1646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4166"/>
              </a:lnSpc>
              <a:buClr>
                <a:schemeClr val="lt1"/>
              </a:buClr>
              <a:buSzPts val="1800"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lang="ru-RU" sz="1100" b="1" i="0" dirty="0">
                <a:solidFill>
                  <a:srgbClr val="FFFFFF"/>
                </a:solidFill>
                <a:latin typeface="Geologica"/>
              </a:rPr>
              <a:t>—</a:t>
            </a:r>
          </a:p>
        </p:txBody>
      </p:sp>
      <p:sp>
        <p:nvSpPr>
          <p:cNvPr id="3" name="Google Shape;316;p18">
            <a:extLst>
              <a:ext uri="{FF2B5EF4-FFF2-40B4-BE49-F238E27FC236}">
                <a16:creationId xmlns:a16="http://schemas.microsoft.com/office/drawing/2014/main" id="{1769EA8F-22B2-08C9-E4B0-2319A2151F01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pSp>
        <p:nvGrpSpPr>
          <p:cNvPr id="73" name="Google Shape;73;p6"/>
          <p:cNvGrpSpPr/>
          <p:nvPr/>
        </p:nvGrpSpPr>
        <p:grpSpPr>
          <a:xfrm>
            <a:off x="8631710" y="0"/>
            <a:ext cx="512446" cy="5143606"/>
            <a:chOff x="8629651" y="-7"/>
            <a:chExt cx="514349" cy="5162708"/>
          </a:xfrm>
        </p:grpSpPr>
        <p:pic>
          <p:nvPicPr>
            <p:cNvPr id="74" name="Google Shape;74;p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635736" y="-7"/>
              <a:ext cx="508264" cy="50360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629651" y="489431"/>
              <a:ext cx="514349" cy="4685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635736" y="1006651"/>
              <a:ext cx="508264" cy="46475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635736" y="1529526"/>
              <a:ext cx="508264" cy="347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1941828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635736" y="2403968"/>
              <a:ext cx="508264" cy="5375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635736" y="3054581"/>
              <a:ext cx="508264" cy="489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635736" y="3578967"/>
              <a:ext cx="508264" cy="4300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629651" y="4063024"/>
              <a:ext cx="514349" cy="5584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629651" y="4675471"/>
              <a:ext cx="514349" cy="48723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ВЫПОЛНЕННЫЕ PR-ЗАДАЧИ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16365" y="881000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ru-RU" sz="1300" dirty="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ПРОЕКТ «ХХХ»</a:t>
            </a:r>
            <a:endParaRPr lang="ru-RU" sz="1300" b="0" i="0" u="none" strike="noStrike" cap="none" dirty="0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D43213-2E2A-8449-1B3F-198381DA9BAB}"/>
              </a:ext>
            </a:extLst>
          </p:cNvPr>
          <p:cNvSpPr txBox="1"/>
          <p:nvPr/>
        </p:nvSpPr>
        <p:spPr>
          <a:xfrm>
            <a:off x="2463281" y="4888633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  <p:sp>
        <p:nvSpPr>
          <p:cNvPr id="4" name="Google Shape;211;p12">
            <a:extLst>
              <a:ext uri="{FF2B5EF4-FFF2-40B4-BE49-F238E27FC236}">
                <a16:creationId xmlns:a16="http://schemas.microsoft.com/office/drawing/2014/main" id="{2CEA495B-8E35-1BEE-96E0-5CF002BAD303}"/>
              </a:ext>
            </a:extLst>
          </p:cNvPr>
          <p:cNvSpPr/>
          <p:nvPr/>
        </p:nvSpPr>
        <p:spPr>
          <a:xfrm>
            <a:off x="287350" y="1253000"/>
            <a:ext cx="8122500" cy="3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</a:p>
          <a:p>
            <a:pPr marL="457200" marR="0" lvl="0" indent="-3048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Geologica ExtraLight"/>
              <a:buChar char="●"/>
              <a:tabLst/>
              <a:defRPr/>
            </a:pPr>
            <a:r>
              <a:rPr kumimoji="0" lang="ru-RU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ХХХ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" name="Google Shape;316;p18">
            <a:extLst>
              <a:ext uri="{FF2B5EF4-FFF2-40B4-BE49-F238E27FC236}">
                <a16:creationId xmlns:a16="http://schemas.microsoft.com/office/drawing/2014/main" id="{30D33B43-2182-6BDC-9021-84930578C0AC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40015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sp>
        <p:nvSpPr>
          <p:cNvPr id="2" name="Google Shape;316;p18">
            <a:extLst>
              <a:ext uri="{FF2B5EF4-FFF2-40B4-BE49-F238E27FC236}">
                <a16:creationId xmlns:a16="http://schemas.microsoft.com/office/drawing/2014/main" id="{1BC41B65-C1DF-67E3-0E56-10968D73453F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257035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D81947-34DD-A987-CB4E-A21571AC47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НАПИСАНИЕ ПРЕСС-РЕЛИЗА: ХХХ</a:t>
            </a:r>
          </a:p>
        </p:txBody>
      </p:sp>
      <p:pic>
        <p:nvPicPr>
          <p:cNvPr id="5" name="Google Shape;95;p7" descr="preencoded.png">
            <a:extLst>
              <a:ext uri="{FF2B5EF4-FFF2-40B4-BE49-F238E27FC236}">
                <a16:creationId xmlns:a16="http://schemas.microsoft.com/office/drawing/2014/main" id="{27DB2B37-AA61-09C6-9169-40A81B8FF6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6;p7" descr="preencoded.png">
            <a:extLst>
              <a:ext uri="{FF2B5EF4-FFF2-40B4-BE49-F238E27FC236}">
                <a16:creationId xmlns:a16="http://schemas.microsoft.com/office/drawing/2014/main" id="{2DE6345E-2159-3236-B30B-24486A149F3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7;p7" descr="preencoded.png">
            <a:extLst>
              <a:ext uri="{FF2B5EF4-FFF2-40B4-BE49-F238E27FC236}">
                <a16:creationId xmlns:a16="http://schemas.microsoft.com/office/drawing/2014/main" id="{E1F45CA3-7FDF-DEB5-40AE-92ECF67BC0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8;p7" descr="preencoded.png">
            <a:extLst>
              <a:ext uri="{FF2B5EF4-FFF2-40B4-BE49-F238E27FC236}">
                <a16:creationId xmlns:a16="http://schemas.microsoft.com/office/drawing/2014/main" id="{FFFBC762-738B-AC50-F6B2-11BFD59D645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9;p7" descr="preencoded.png">
            <a:extLst>
              <a:ext uri="{FF2B5EF4-FFF2-40B4-BE49-F238E27FC236}">
                <a16:creationId xmlns:a16="http://schemas.microsoft.com/office/drawing/2014/main" id="{7BF313E0-EB04-F7A2-A977-97C927EAF19B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0;p7" descr="preencoded.png">
            <a:extLst>
              <a:ext uri="{FF2B5EF4-FFF2-40B4-BE49-F238E27FC236}">
                <a16:creationId xmlns:a16="http://schemas.microsoft.com/office/drawing/2014/main" id="{CED11DF3-0495-E526-EB4C-E6317ECB0B6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1;p7" descr="preencoded.png">
            <a:extLst>
              <a:ext uri="{FF2B5EF4-FFF2-40B4-BE49-F238E27FC236}">
                <a16:creationId xmlns:a16="http://schemas.microsoft.com/office/drawing/2014/main" id="{91518596-03C1-49F7-B397-8F81D8CF6EE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02;p7" descr="preencoded.png">
            <a:extLst>
              <a:ext uri="{FF2B5EF4-FFF2-40B4-BE49-F238E27FC236}">
                <a16:creationId xmlns:a16="http://schemas.microsoft.com/office/drawing/2014/main" id="{6D7F7E7D-F729-3448-72CB-F0C076E2F71C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3;p7" descr="preencoded.png">
            <a:extLst>
              <a:ext uri="{FF2B5EF4-FFF2-40B4-BE49-F238E27FC236}">
                <a16:creationId xmlns:a16="http://schemas.microsoft.com/office/drawing/2014/main" id="{D43F23A2-AC32-6ECC-B598-B24CFE76D0C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4;p7" descr="preencoded.png">
            <a:extLst>
              <a:ext uri="{FF2B5EF4-FFF2-40B4-BE49-F238E27FC236}">
                <a16:creationId xmlns:a16="http://schemas.microsoft.com/office/drawing/2014/main" id="{F5016057-E757-301A-2242-0CCDE88E5D0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6">
            <a:extLst>
              <a:ext uri="{FF2B5EF4-FFF2-40B4-BE49-F238E27FC236}">
                <a16:creationId xmlns:a16="http://schemas.microsoft.com/office/drawing/2014/main" id="{E7369D64-9812-3847-3095-4B602807FCE0}"/>
              </a:ext>
            </a:extLst>
          </p:cNvPr>
          <p:cNvSpPr/>
          <p:nvPr/>
        </p:nvSpPr>
        <p:spPr>
          <a:xfrm>
            <a:off x="2658500" y="1115900"/>
            <a:ext cx="3827001" cy="376444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3837B2-BA94-45B6-60B2-8B44B7CC61B6}"/>
              </a:ext>
            </a:extLst>
          </p:cNvPr>
          <p:cNvSpPr txBox="1"/>
          <p:nvPr/>
        </p:nvSpPr>
        <p:spPr>
          <a:xfrm>
            <a:off x="2658500" y="4696961"/>
            <a:ext cx="38270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СГЕНЕРИРОВАННЫЙ ПРЕСС-РЕЛИЗ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 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  <p:sp>
        <p:nvSpPr>
          <p:cNvPr id="22" name="Google Shape;316;p18">
            <a:extLst>
              <a:ext uri="{FF2B5EF4-FFF2-40B4-BE49-F238E27FC236}">
                <a16:creationId xmlns:a16="http://schemas.microsoft.com/office/drawing/2014/main" id="{66444DDC-9E4E-4FAE-7721-CA6B4AC865BD}"/>
              </a:ext>
            </a:extLst>
          </p:cNvPr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  <p:extLst>
      <p:ext uri="{BB962C8B-B14F-4D97-AF65-F5344CB8AC3E}">
        <p14:creationId xmlns:p14="http://schemas.microsoft.com/office/powerpoint/2010/main" val="462621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 dirty="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 dirty="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19" name="Google Shape;31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8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8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ROAD MAP: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ХХХ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pic>
        <p:nvPicPr>
          <p:cNvPr id="330" name="Google Shape;330;p18" title="Снимок экрана 2026-04-15 в 20.11.21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96638" y="1379375"/>
            <a:ext cx="6383473" cy="297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6">
            <a:extLst>
              <a:ext uri="{FF2B5EF4-FFF2-40B4-BE49-F238E27FC236}">
                <a16:creationId xmlns:a16="http://schemas.microsoft.com/office/drawing/2014/main" id="{22656257-9AC4-2075-E79F-D26AB915F66C}"/>
              </a:ext>
            </a:extLst>
          </p:cNvPr>
          <p:cNvSpPr/>
          <p:nvPr/>
        </p:nvSpPr>
        <p:spPr>
          <a:xfrm>
            <a:off x="1596638" y="1379045"/>
            <a:ext cx="6383473" cy="29707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D12FF7-C7F9-2250-333C-8F12CA10D22F}"/>
              </a:ext>
            </a:extLst>
          </p:cNvPr>
          <p:cNvSpPr txBox="1"/>
          <p:nvPr/>
        </p:nvSpPr>
        <p:spPr>
          <a:xfrm>
            <a:off x="1596638" y="4109501"/>
            <a:ext cx="638347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ПЕРЕНЕСЕННЫЙ 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ROAD MAP c GOOGLE DRIVE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339" name="Google Shape;339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9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9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9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9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СОСТАВЛЕНИЕ СПИСКА БЛОГЕРОВ</a:t>
            </a:r>
            <a:endParaRPr sz="200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2" name="Rectangle 16">
            <a:extLst>
              <a:ext uri="{FF2B5EF4-FFF2-40B4-BE49-F238E27FC236}">
                <a16:creationId xmlns:a16="http://schemas.microsoft.com/office/drawing/2014/main" id="{695CD20A-0EDD-E502-F2E1-2982969E2AEF}"/>
              </a:ext>
            </a:extLst>
          </p:cNvPr>
          <p:cNvSpPr/>
          <p:nvPr/>
        </p:nvSpPr>
        <p:spPr>
          <a:xfrm>
            <a:off x="1596638" y="1379045"/>
            <a:ext cx="6383473" cy="297075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F2CC70-BEAF-53AF-9FCD-163EF8B50FA9}"/>
              </a:ext>
            </a:extLst>
          </p:cNvPr>
          <p:cNvSpPr txBox="1"/>
          <p:nvPr/>
        </p:nvSpPr>
        <p:spPr>
          <a:xfrm>
            <a:off x="1596638" y="4109501"/>
            <a:ext cx="638347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</a:t>
            </a:r>
            <a:r>
              <a:rPr lang="ru-RU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ТАБЛИЦА СПИСКА БЛОГЕРОВ</a:t>
            </a:r>
            <a:r>
              <a:rPr lang="en-US" sz="9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 C GOOGLE DRIVE</a:t>
            </a:r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lang="ru-RU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В СМИ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63334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1341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ТГ</a:t>
            </a: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775757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ru-RU"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4761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95" name="Google Shape;95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/>
          <p:nvPr/>
        </p:nvSpPr>
        <p:spPr>
          <a:xfrm>
            <a:off x="216379" y="4214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AVE/OTS </a:t>
            </a:r>
            <a:r>
              <a:rPr kumimoji="0" lang="ru-RU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В </a:t>
            </a: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INST</a:t>
            </a:r>
            <a:endParaRPr kumimoji="0" lang="ru-RU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</a:p>
        </p:txBody>
      </p:sp>
      <p:graphicFrame>
        <p:nvGraphicFramePr>
          <p:cNvPr id="2" name="Google Shape;369;p20">
            <a:extLst>
              <a:ext uri="{FF2B5EF4-FFF2-40B4-BE49-F238E27FC236}">
                <a16:creationId xmlns:a16="http://schemas.microsoft.com/office/drawing/2014/main" id="{8BD6FC92-C719-C493-672F-37EBA19EDF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24936"/>
              </p:ext>
            </p:extLst>
          </p:nvPr>
        </p:nvGraphicFramePr>
        <p:xfrm>
          <a:off x="672900" y="1379045"/>
          <a:ext cx="7798200" cy="2997504"/>
        </p:xfrm>
        <a:graphic>
          <a:graphicData uri="http://schemas.openxmlformats.org/drawingml/2006/table">
            <a:tbl>
              <a:tblPr>
                <a:noFill/>
                <a:tableStyleId>{572D322D-C15E-4D3E-8885-CCCE166E60A2}</a:tableStyleId>
              </a:tblPr>
              <a:tblGrid>
                <a:gridCol w="49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9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№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Название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Ссылка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 err="1"/>
                        <a:t>Формат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AVE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5E5E"/>
                        </a:buClr>
                        <a:buSzPts val="3000"/>
                        <a:buFont typeface="Helvetica Neue"/>
                        <a:buNone/>
                      </a:pPr>
                      <a:r>
                        <a:rPr lang="en-US" sz="1000" b="1" u="none" strike="noStrike" cap="none" dirty="0"/>
                        <a:t>OTS</a:t>
                      </a:r>
                      <a:endParaRPr sz="1000" dirty="0"/>
                    </a:p>
                  </a:txBody>
                  <a:tcPr marL="50800" marR="50800" marT="50800" marB="50800" anchor="b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000" b="0" i="0" u="none" strike="noStrike" cap="none" dirty="0">
                        <a:solidFill>
                          <a:schemeClr val="lt1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u="sng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60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Geologica ExtraLight"/>
              <a:buNone/>
            </a:pPr>
            <a:r>
              <a:rPr lang="en-US" sz="600">
                <a:solidFill>
                  <a:schemeClr val="lt1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sz="600">
              <a:solidFill>
                <a:schemeClr val="lt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СМИ: </a:t>
            </a:r>
            <a:r>
              <a:rPr lang="ru-RU" sz="2000" u="sng" dirty="0">
                <a:solidFill>
                  <a:schemeClr val="hlink"/>
                </a:solidFill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sz="20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eologica"/>
              <a:buNone/>
            </a:pPr>
            <a:r>
              <a:rPr lang="en-US" sz="11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sz="1100" dirty="0">
              <a:solidFill>
                <a:schemeClr val="lt1"/>
              </a:solidFill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logica"/>
              </a:rPr>
              <a:t>[ МЕСТО ПОД ФОТО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lang="en-US" sz="2000" dirty="0">
                <a:solidFill>
                  <a:schemeClr val="lt1"/>
                </a:solidFill>
                <a:latin typeface="Geologica"/>
                <a:ea typeface="Geologica"/>
                <a:cs typeface="Geologica"/>
                <a:sym typeface="Geologica"/>
              </a:rPr>
              <a:t>ПУБЛИКАЦИЯ В ТГ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879404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1"/>
          <p:cNvSpPr/>
          <p:nvPr/>
        </p:nvSpPr>
        <p:spPr>
          <a:xfrm>
            <a:off x="201930" y="214313"/>
            <a:ext cx="1014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GORD AGENCY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201342" y="4829175"/>
            <a:ext cx="6381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Geologica ExtraLight"/>
              <a:buNone/>
              <a:tabLst/>
              <a:defRPr/>
            </a:pPr>
            <a:r>
              <a:rPr kumimoji="0" 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 ExtraLight"/>
                <a:ea typeface="Geologica ExtraLight"/>
                <a:cs typeface="Geologica ExtraLight"/>
                <a:sym typeface="Geologica ExtraLight"/>
              </a:rPr>
              <a:t>2026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pic>
        <p:nvPicPr>
          <p:cNvPr id="568" name="Google Shape;56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5736" y="-7"/>
            <a:ext cx="508264" cy="503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29651" y="489431"/>
            <a:ext cx="514349" cy="4685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35736" y="1006651"/>
            <a:ext cx="508264" cy="46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35736" y="1529526"/>
            <a:ext cx="508264" cy="34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1941828"/>
            <a:ext cx="514349" cy="487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35736" y="2403968"/>
            <a:ext cx="508264" cy="537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635736" y="3054581"/>
            <a:ext cx="508264" cy="48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35736" y="3578967"/>
            <a:ext cx="508264" cy="430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629651" y="4063024"/>
            <a:ext cx="514349" cy="5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29651" y="4656258"/>
            <a:ext cx="514349" cy="487231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/>
          <p:nvPr/>
        </p:nvSpPr>
        <p:spPr>
          <a:xfrm>
            <a:off x="368779" y="57380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ПУБЛИКАЦИЯ В INST: </a:t>
            </a:r>
            <a:r>
              <a:rPr kumimoji="0" lang="ru-RU" sz="2000" b="0" i="0" u="sng" strike="noStrike" kern="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Наименование площадки</a:t>
            </a: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579" name="Google Shape;579;p31"/>
          <p:cNvSpPr/>
          <p:nvPr/>
        </p:nvSpPr>
        <p:spPr>
          <a:xfrm>
            <a:off x="201929" y="4387450"/>
            <a:ext cx="91440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logica"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ea typeface="Geologica"/>
                <a:cs typeface="Geologica"/>
                <a:sym typeface="Geologica"/>
              </a:rPr>
              <a:t>ОХВАТ: </a:t>
            </a:r>
            <a:r>
              <a:rPr kumimoji="0" lang="ru-RU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—</a:t>
            </a:r>
            <a:endParaRPr kumimoji="0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logica"/>
              <a:ea typeface="Geologica"/>
              <a:cs typeface="Geologica"/>
              <a:sym typeface="Geologica"/>
            </a:endParaRPr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E46843-3022-5C66-BA80-7E587F0FDBB1}"/>
              </a:ext>
            </a:extLst>
          </p:cNvPr>
          <p:cNvSpPr/>
          <p:nvPr/>
        </p:nvSpPr>
        <p:spPr>
          <a:xfrm>
            <a:off x="2452649" y="1185798"/>
            <a:ext cx="4238701" cy="359152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11E-97F0-05BD-7CB9-06D5CEE04625}"/>
              </a:ext>
            </a:extLst>
          </p:cNvPr>
          <p:cNvSpPr txBox="1"/>
          <p:nvPr/>
        </p:nvSpPr>
        <p:spPr>
          <a:xfrm>
            <a:off x="2452649" y="4533390"/>
            <a:ext cx="423870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sz="900" b="0" i="1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Geologica"/>
                <a:cs typeface="Arial"/>
                <a:sym typeface="Arial"/>
              </a:rPr>
              <a:t>[ МЕСТО ПОД ФОТО ]</a:t>
            </a:r>
          </a:p>
        </p:txBody>
      </p:sp>
    </p:spTree>
    <p:extLst>
      <p:ext uri="{BB962C8B-B14F-4D97-AF65-F5344CB8AC3E}">
        <p14:creationId xmlns:p14="http://schemas.microsoft.com/office/powerpoint/2010/main" val="407498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2410"/>
        </a:solidFill>
        <a:effectLst/>
      </p:bgPr>
    </p:bg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3" name="Google Shape;1913;p94"/>
          <p:cNvGrpSpPr/>
          <p:nvPr/>
        </p:nvGrpSpPr>
        <p:grpSpPr>
          <a:xfrm>
            <a:off x="3398983" y="2324017"/>
            <a:ext cx="2346033" cy="243398"/>
            <a:chOff x="3767138" y="2405063"/>
            <a:chExt cx="1606982" cy="166688"/>
          </a:xfrm>
        </p:grpSpPr>
        <p:pic>
          <p:nvPicPr>
            <p:cNvPr id="1914" name="Google Shape;1914;p94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225953" y="2407378"/>
              <a:ext cx="14816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5" name="Google Shape;1915;p94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082279" y="2405063"/>
              <a:ext cx="152796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6" name="Google Shape;1916;p94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922556" y="2407378"/>
              <a:ext cx="137749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7" name="Google Shape;1917;p94" descr="preencoded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784743" y="2407378"/>
              <a:ext cx="11691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8" name="Google Shape;1918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05315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9" name="Google Shape;1919;p94" descr="preencoded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50103" y="2407378"/>
              <a:ext cx="157427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0" name="Google Shape;1920;p94" descr="preencoded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4276452" y="2407378"/>
              <a:ext cx="138906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1" name="Google Shape;1921;p94" descr="preencoded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4129371" y="2407378"/>
              <a:ext cx="126173" cy="1620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2" name="Google Shape;1922;p94" descr="preencoded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3936150" y="2405063"/>
              <a:ext cx="171317" cy="166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3" name="Google Shape;1923;p94" descr="preencoded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767138" y="2405063"/>
              <a:ext cx="155112" cy="16668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4" name="Google Shape;1924;p94"/>
          <p:cNvSpPr/>
          <p:nvPr/>
        </p:nvSpPr>
        <p:spPr>
          <a:xfrm>
            <a:off x="8253434" y="4776788"/>
            <a:ext cx="7050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202</a:t>
            </a: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6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  <p:sp>
        <p:nvSpPr>
          <p:cNvPr id="1925" name="Google Shape;1925;p94"/>
          <p:cNvSpPr/>
          <p:nvPr/>
        </p:nvSpPr>
        <p:spPr>
          <a:xfrm>
            <a:off x="2434790" y="2671875"/>
            <a:ext cx="42744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Geologica ExtraLight"/>
              <a:buNone/>
            </a:pPr>
            <a:r>
              <a:rPr lang="en-US" sz="700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БУТИКОВОЕ КОММУНИКАЦИОННОЕ </a:t>
            </a:r>
            <a:r>
              <a:rPr lang="en-US" sz="700" b="0" i="0" u="none" strike="noStrike" cap="none">
                <a:solidFill>
                  <a:srgbClr val="FFFFFF"/>
                </a:solidFill>
                <a:latin typeface="Geologica ExtraLight"/>
                <a:ea typeface="Geologica ExtraLight"/>
                <a:cs typeface="Geologica ExtraLight"/>
                <a:sym typeface="Geologica ExtraLight"/>
              </a:rPr>
              <a:t>АГЕНТСТВО</a:t>
            </a:r>
            <a:endParaRPr sz="700" b="0" i="0" u="none" strike="noStrike" cap="none">
              <a:solidFill>
                <a:schemeClr val="dk1"/>
              </a:solidFill>
              <a:latin typeface="Geologica ExtraLight"/>
              <a:ea typeface="Geologica ExtraLight"/>
              <a:cs typeface="Geologica ExtraLight"/>
              <a:sym typeface="Geologica Extra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293</Words>
  <Application>Microsoft Office PowerPoint</Application>
  <PresentationFormat>Экран (16:9)</PresentationFormat>
  <Paragraphs>136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Geologica</vt:lpstr>
      <vt:lpstr>Arial</vt:lpstr>
      <vt:lpstr>Geologica ExtraLight</vt:lpstr>
      <vt:lpstr>Helvetica Neue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Aleksandr Efimov</cp:lastModifiedBy>
  <cp:revision>3</cp:revision>
  <dcterms:modified xsi:type="dcterms:W3CDTF">2026-07-13T16:57:17Z</dcterms:modified>
</cp:coreProperties>
</file>