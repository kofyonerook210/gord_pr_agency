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8"/>
  </p:notesMasterIdLst>
  <p:sldIdLst>
    <p:sldId id="347" r:id="rId2"/>
    <p:sldId id="257" r:id="rId3"/>
    <p:sldId id="348" r:id="rId4"/>
    <p:sldId id="259" r:id="rId5"/>
    <p:sldId id="349" r:id="rId6"/>
    <p:sldId id="350" r:id="rId7"/>
    <p:sldId id="351" r:id="rId8"/>
    <p:sldId id="270" r:id="rId9"/>
    <p:sldId id="271" r:id="rId10"/>
    <p:sldId id="353" r:id="rId11"/>
    <p:sldId id="355" r:id="rId12"/>
    <p:sldId id="356" r:id="rId13"/>
    <p:sldId id="283" r:id="rId14"/>
    <p:sldId id="357" r:id="rId15"/>
    <p:sldId id="358" r:id="rId16"/>
    <p:sldId id="346" r:id="rId17"/>
  </p:sldIdLst>
  <p:sldSz cx="9144000" cy="5143500" type="screen16x9"/>
  <p:notesSz cx="5143500" cy="9144000"/>
  <p:embeddedFontLst>
    <p:embeddedFont>
      <p:font typeface="Geologica" pitchFamily="2" charset="0"/>
      <p:regular r:id="rId19"/>
      <p:bold r:id="rId20"/>
    </p:embeddedFont>
    <p:embeddedFont>
      <p:font typeface="Geologica ExtraLight" pitchFamily="2" charset="0"/>
      <p:regular r:id="rId21"/>
      <p:bold r:id="rId22"/>
    </p:embeddedFont>
    <p:embeddedFont>
      <p:font typeface="Helvetica Neue" panose="02000503040000020004" pitchFamily="50" charset="-52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AFB1DFA-13AA-4F39-A942-90BCB2D5D1B1}">
          <p14:sldIdLst>
            <p14:sldId id="347"/>
          </p14:sldIdLst>
        </p14:section>
        <p14:section name="Результаты" id="{6605F440-1AA5-49EA-9D44-FA2399415B7C}">
          <p14:sldIdLst>
            <p14:sldId id="257"/>
          </p14:sldIdLst>
        </p14:section>
        <p14:section name="Личные бренды" id="{F82B968F-0B3A-409C-875F-711ADE4A7F49}">
          <p14:sldIdLst>
            <p14:sldId id="348"/>
            <p14:sldId id="259"/>
          </p14:sldIdLst>
        </p14:section>
        <p14:section name="Проект" id="{7D772048-5AFA-46AC-8BF2-512A90B899E8}">
          <p14:sldIdLst>
            <p14:sldId id="349"/>
            <p14:sldId id="350"/>
          </p14:sldIdLst>
        </p14:section>
        <p14:section name="Пресс-релиз" id="{9678A501-C461-4FFC-ACAB-E951C697104E}">
          <p14:sldIdLst>
            <p14:sldId id="351"/>
          </p14:sldIdLst>
        </p14:section>
        <p14:section name="Road map" id="{3FBB6CFB-BA6F-41D5-A395-E5563A72FCEC}">
          <p14:sldIdLst>
            <p14:sldId id="270"/>
          </p14:sldIdLst>
        </p14:section>
        <p14:section name="Блогеры" id="{74008DA9-938C-49AD-B12B-FCE5F4072498}">
          <p14:sldIdLst>
            <p14:sldId id="271"/>
          </p14:sldIdLst>
        </p14:section>
        <p14:section name="AVE/OTS" id="{C6CD7A7A-C26B-4ECA-9927-CCB8508080F7}">
          <p14:sldIdLst>
            <p14:sldId id="353"/>
            <p14:sldId id="355"/>
            <p14:sldId id="356"/>
          </p14:sldIdLst>
        </p14:section>
        <p14:section name="Публикации в СМИ" id="{4FBEE002-AF3A-4B37-B1A1-B4CEF4040CFB}">
          <p14:sldIdLst>
            <p14:sldId id="283"/>
          </p14:sldIdLst>
        </p14:section>
        <p14:section name="Публикация в ТГ" id="{B07938A8-9DFB-4D90-9014-FCF7A3BE335E}">
          <p14:sldIdLst>
            <p14:sldId id="357"/>
          </p14:sldIdLst>
        </p14:section>
        <p14:section name="Публикация в INST" id="{49F20420-6CCA-4CA5-8CC9-8117467AE8BE}">
          <p14:sldIdLst>
            <p14:sldId id="358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2D322D-C15E-4D3E-8885-CCCE166E60A2}">
  <a:tblStyle styleId="{572D322D-C15E-4D3E-8885-CCCE166E60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153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743560d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g3c743560dd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g3c743560dd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7274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653b0432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g3a653b04322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a653b04322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705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882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6769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335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861f59ef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c861f59ef4_0_1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c861f59ef4_0_1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0051738ea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d0051738ea_0_10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d0051738ea_0_10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57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134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61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0513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103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b37e8b61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0" name="Google Shape;1910;g3b37e8b611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g3b37e8b611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3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3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0BA7E8-8F5C-7C81-E130-F9F14BC9B9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Picture 21" descr="loc4.jpg"/>
          <p:cNvPicPr>
            <a:picLocks noChangeAspect="1"/>
          </p:cNvPicPr>
          <p:nvPr/>
        </p:nvPicPr>
        <p:blipFill>
          <a:blip r:embed="rId3"/>
          <a:srcRect t="7620" b="762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oogle Shape;18;p4"/>
          <p:cNvSpPr/>
          <p:nvPr/>
        </p:nvSpPr>
        <p:spPr>
          <a:xfrm>
            <a:off x="-125475" y="2374425"/>
            <a:ext cx="94002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29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GORD AGENCY x </a:t>
            </a:r>
            <a:r>
              <a:rPr lang="ru-RU" sz="29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ВКУСНО — И ТОЧКА</a:t>
            </a:r>
            <a:endParaRPr sz="4000" b="1" i="0" u="none" strike="noStrike" cap="none" dirty="0">
              <a:solidFill>
                <a:srgbClr val="D8231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2434790" y="295505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АПРЕЛЬ 2026 – МАЙ 2026</a:t>
            </a:r>
            <a:endParaRPr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5574150" y="4741728"/>
            <a:ext cx="34227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SINCE 2022</a:t>
            </a:r>
            <a:endParaRPr sz="80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218395" y="215400"/>
            <a:ext cx="732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800" b="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7190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B996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loc3.jpg"/>
          <p:cNvPicPr>
            <a:picLocks noChangeAspect="1"/>
          </p:cNvPicPr>
          <p:nvPr/>
        </p:nvPicPr>
        <p:blipFill>
          <a:blip r:embed="rId3"/>
          <a:srcRect l="20103" r="20103"/>
          <a:stretch>
            <a:fillRect/>
          </a:stretch>
        </p:blipFill>
        <p:spPr>
          <a:xfrm>
            <a:off x="4760188" y="779208"/>
            <a:ext cx="4238701" cy="3998114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4760188" y="779208"/>
            <a:ext cx="4238701" cy="3998114"/>
          </a:xfrm>
          <a:prstGeom prst="rect">
            <a:avLst/>
          </a:prstGeom>
          <a:solidFill>
            <a:srgbClr val="000000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oogle Shape;28;p5"/>
          <p:cNvSpPr/>
          <p:nvPr/>
        </p:nvSpPr>
        <p:spPr>
          <a:xfrm>
            <a:off x="8052304" y="214313"/>
            <a:ext cx="900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GORDPR.RU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409492" y="4829175"/>
            <a:ext cx="543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endParaRPr sz="600">
              <a:solidFill>
                <a:srgbClr val="100E09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ru-RU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АПРЕЛЬ–МАЙ 2026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93423" y="976090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90323" y="3542264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7350" y="415363"/>
            <a:ext cx="3959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1800"/>
              <a:buFont typeface="Geologica"/>
              <a:buNone/>
            </a:pPr>
            <a:r>
              <a:rPr lang="en-US" sz="22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РЕЗУЛЬТАТЫ</a:t>
            </a:r>
            <a:endParaRPr sz="22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01356" y="4829175"/>
            <a:ext cx="11466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 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905646" y="195140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905646" y="2205637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894064" y="155047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64+</a:t>
            </a:r>
          </a:p>
        </p:txBody>
      </p:sp>
      <p:sp>
        <p:nvSpPr>
          <p:cNvPr id="40" name="Google Shape;40;p5"/>
          <p:cNvSpPr/>
          <p:nvPr/>
        </p:nvSpPr>
        <p:spPr>
          <a:xfrm>
            <a:off x="4991802" y="326556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91805" y="3534719"/>
            <a:ext cx="2005200" cy="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988927" y="286463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48+</a:t>
            </a:r>
          </a:p>
        </p:txBody>
      </p:sp>
      <p:sp>
        <p:nvSpPr>
          <p:cNvPr id="43" name="Google Shape;43;p5"/>
          <p:cNvSpPr/>
          <p:nvPr/>
        </p:nvSpPr>
        <p:spPr>
          <a:xfrm>
            <a:off x="481862" y="429644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PR-value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68576" y="3674282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>
              <a:lnSpc>
                <a:spcPct val="104166"/>
              </a:lnSpc>
            </a:pPr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9 800 000</a:t>
            </a:r>
            <a:r>
              <a:rPr lang="ru-RU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r>
              <a:rPr lang="en-US" sz="2678" b="1" dirty="0" err="1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руб</a:t>
            </a:r>
            <a:r>
              <a:rPr lang="en-US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.</a:t>
            </a:r>
          </a:p>
        </p:txBody>
      </p:sp>
      <p:sp>
        <p:nvSpPr>
          <p:cNvPr id="45" name="Google Shape;45;p5"/>
          <p:cNvSpPr/>
          <p:nvPr/>
        </p:nvSpPr>
        <p:spPr>
          <a:xfrm>
            <a:off x="481869" y="4086821"/>
            <a:ext cx="14772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ВЫГОДА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81862" y="2996833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68576" y="2374673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51 240 000</a:t>
            </a:r>
          </a:p>
        </p:txBody>
      </p:sp>
      <p:sp>
        <p:nvSpPr>
          <p:cNvPr id="48" name="Google Shape;48;p5"/>
          <p:cNvSpPr/>
          <p:nvPr/>
        </p:nvSpPr>
        <p:spPr>
          <a:xfrm>
            <a:off x="481876" y="2787209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10% ОТ ОХВАТА</a:t>
            </a:r>
            <a:endParaRPr sz="1307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05075" y="2158225"/>
            <a:ext cx="18891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во всех медиа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91801" y="1536075"/>
            <a:ext cx="1652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214</a:t>
            </a:r>
          </a:p>
        </p:txBody>
      </p:sp>
      <p:sp>
        <p:nvSpPr>
          <p:cNvPr id="51" name="Google Shape;51;p5"/>
          <p:cNvSpPr/>
          <p:nvPr/>
        </p:nvSpPr>
        <p:spPr>
          <a:xfrm>
            <a:off x="5005086" y="1948605"/>
            <a:ext cx="17289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УПОМИНАНИЙ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909492" y="3264862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909492" y="3534546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INST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901763" y="2848488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31+</a:t>
            </a:r>
          </a:p>
        </p:txBody>
      </p:sp>
      <p:sp>
        <p:nvSpPr>
          <p:cNvPr id="59" name="Google Shape;59;p5"/>
          <p:cNvSpPr/>
          <p:nvPr/>
        </p:nvSpPr>
        <p:spPr>
          <a:xfrm>
            <a:off x="11247151" y="1763415"/>
            <a:ext cx="1652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"/>
              <a:buFont typeface="Geologica ExtraLight"/>
              <a:buNone/>
            </a:pPr>
            <a:r>
              <a:rPr lang="en-US" sz="925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925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90323" y="2254628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1862" y="172491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за</a:t>
            </a:r>
            <a:r>
              <a:rPr lang="en-US" sz="1307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</a:t>
            </a: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месяц</a:t>
            </a:r>
            <a:endParaRPr sz="1307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8576" y="1102751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512 400 000</a:t>
            </a:r>
          </a:p>
        </p:txBody>
      </p:sp>
      <p:sp>
        <p:nvSpPr>
          <p:cNvPr id="67" name="Google Shape;67;p5"/>
          <p:cNvSpPr/>
          <p:nvPr/>
        </p:nvSpPr>
        <p:spPr>
          <a:xfrm>
            <a:off x="481876" y="1515288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ОБЩИЙ ОХВАТ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6" name="Picture 85" descr="loc1.jpg"/>
          <p:cNvPicPr>
            <a:picLocks noChangeAspect="1"/>
          </p:cNvPicPr>
          <p:nvPr/>
        </p:nvPicPr>
        <p:blipFill>
          <a:blip r:embed="rId12"/>
          <a:srcRect t="133" b="1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13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ЛИЧНЫЕ БРЕНДЫ</a:t>
            </a:r>
            <a:endParaRPr sz="13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Опубликовали интервью управляющего директора в РБК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Комментарий бренд-шефа в «Ведомостях» о трендах фастфуда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Подготовили колонку для Forbes об импортозамещении в HoReCa</a:t>
            </a:r>
            <a:endParaRPr sz="12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67C77E75-3496-688C-54E7-9216134E0890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1646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rbc.ru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4166"/>
              </a:lnSpc>
              <a:buClr>
                <a:schemeClr val="lt1"/>
              </a:buClr>
              <a:buSzPts val="1800"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lang="ru-RU" sz="1100" b="1" i="0" dirty="0">
                <a:solidFill>
                  <a:srgbClr val="FFFFFF"/>
                </a:solidFill>
                <a:latin typeface="Geologica"/>
              </a:rPr>
              <a:t>42 000 000</a:t>
            </a:r>
          </a:p>
        </p:txBody>
      </p:sp>
      <p:sp>
        <p:nvSpPr>
          <p:cNvPr id="3" name="Google Shape;316;p18">
            <a:extLst>
              <a:ext uri="{FF2B5EF4-FFF2-40B4-BE49-F238E27FC236}">
                <a16:creationId xmlns:a16="http://schemas.microsoft.com/office/drawing/2014/main" id="{1769EA8F-22B2-08C9-E4B0-2319A2151F01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107" name="Picture 106" descr="loc6.jpg"/>
          <p:cNvPicPr>
            <a:picLocks noChangeAspect="1"/>
          </p:cNvPicPr>
          <p:nvPr/>
        </p:nvPicPr>
        <p:blipFill>
          <a:blip r:embed="rId12"/>
          <a:srcRect l="165" r="165"/>
          <a:stretch>
            <a:fillRect/>
          </a:stretch>
        </p:blipFill>
        <p:spPr>
          <a:xfrm>
            <a:off x="2377440" y="1371600"/>
            <a:ext cx="429768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6" name="Picture 85" descr="loc2.jpg"/>
          <p:cNvPicPr>
            <a:picLocks noChangeAspect="1"/>
          </p:cNvPicPr>
          <p:nvPr/>
        </p:nvPicPr>
        <p:blipFill>
          <a:blip r:embed="rId12"/>
          <a:srcRect t="12400" b="1240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ПРОЕКТ «ВКУСНО — И ТОЧКА»</a:t>
            </a:r>
            <a:endParaRPr lang="ru-RU"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Организовали пресс-дегустацию нового комбо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Запустили спецпроект к годовщине сети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Согласовали интеграции с 12 фуд-блогерами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30D33B43-2182-6BDC-9021-84930578C0AC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40015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sostav.ru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1 800 000</a:t>
            </a:r>
          </a:p>
        </p:txBody>
      </p:sp>
      <p:sp>
        <p:nvSpPr>
          <p:cNvPr id="2" name="Google Shape;316;p18">
            <a:extLst>
              <a:ext uri="{FF2B5EF4-FFF2-40B4-BE49-F238E27FC236}">
                <a16:creationId xmlns:a16="http://schemas.microsoft.com/office/drawing/2014/main" id="{1BC41B65-C1DF-67E3-0E56-10968D73453F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107" name="Picture 106" descr="loc1.jpg"/>
          <p:cNvPicPr>
            <a:picLocks noChangeAspect="1"/>
          </p:cNvPicPr>
          <p:nvPr/>
        </p:nvPicPr>
        <p:blipFill>
          <a:blip r:embed="rId12"/>
          <a:srcRect l="7924" r="7924"/>
          <a:stretch>
            <a:fillRect/>
          </a:stretch>
        </p:blipFill>
        <p:spPr>
          <a:xfrm>
            <a:off x="2377440" y="1371600"/>
            <a:ext cx="429768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5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НАПИСАНИЕ ПРЕСС-РЕЛИЗА: О ЗАПУСКЕ КОМБО</a:t>
            </a:r>
          </a:p>
        </p:txBody>
      </p:sp>
      <p:pic>
        <p:nvPicPr>
          <p:cNvPr id="5" name="Google Shape;95;p7" descr="preencoded.png">
            <a:extLst>
              <a:ext uri="{FF2B5EF4-FFF2-40B4-BE49-F238E27FC236}">
                <a16:creationId xmlns:a16="http://schemas.microsoft.com/office/drawing/2014/main" id="{27DB2B37-AA61-09C6-9169-40A81B8FF6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7" descr="preencoded.png">
            <a:extLst>
              <a:ext uri="{FF2B5EF4-FFF2-40B4-BE49-F238E27FC236}">
                <a16:creationId xmlns:a16="http://schemas.microsoft.com/office/drawing/2014/main" id="{2DE6345E-2159-3236-B30B-24486A149F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7" descr="preencoded.png">
            <a:extLst>
              <a:ext uri="{FF2B5EF4-FFF2-40B4-BE49-F238E27FC236}">
                <a16:creationId xmlns:a16="http://schemas.microsoft.com/office/drawing/2014/main" id="{E1F45CA3-7FDF-DEB5-40AE-92ECF67BC0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8;p7" descr="preencoded.png">
            <a:extLst>
              <a:ext uri="{FF2B5EF4-FFF2-40B4-BE49-F238E27FC236}">
                <a16:creationId xmlns:a16="http://schemas.microsoft.com/office/drawing/2014/main" id="{FFFBC762-738B-AC50-F6B2-11BFD59D64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9;p7" descr="preencoded.png">
            <a:extLst>
              <a:ext uri="{FF2B5EF4-FFF2-40B4-BE49-F238E27FC236}">
                <a16:creationId xmlns:a16="http://schemas.microsoft.com/office/drawing/2014/main" id="{7BF313E0-EB04-F7A2-A977-97C927EAF1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0;p7" descr="preencoded.png">
            <a:extLst>
              <a:ext uri="{FF2B5EF4-FFF2-40B4-BE49-F238E27FC236}">
                <a16:creationId xmlns:a16="http://schemas.microsoft.com/office/drawing/2014/main" id="{CED11DF3-0495-E526-EB4C-E6317ECB0B6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1;p7" descr="preencoded.png">
            <a:extLst>
              <a:ext uri="{FF2B5EF4-FFF2-40B4-BE49-F238E27FC236}">
                <a16:creationId xmlns:a16="http://schemas.microsoft.com/office/drawing/2014/main" id="{91518596-03C1-49F7-B397-8F81D8CF6EE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2;p7" descr="preencoded.png">
            <a:extLst>
              <a:ext uri="{FF2B5EF4-FFF2-40B4-BE49-F238E27FC236}">
                <a16:creationId xmlns:a16="http://schemas.microsoft.com/office/drawing/2014/main" id="{6D7F7E7D-F729-3448-72CB-F0C076E2F71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3;p7" descr="preencoded.png">
            <a:extLst>
              <a:ext uri="{FF2B5EF4-FFF2-40B4-BE49-F238E27FC236}">
                <a16:creationId xmlns:a16="http://schemas.microsoft.com/office/drawing/2014/main" id="{D43F23A2-AC32-6ECC-B598-B24CFE76D0C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4;p7" descr="preencoded.png">
            <a:extLst>
              <a:ext uri="{FF2B5EF4-FFF2-40B4-BE49-F238E27FC236}">
                <a16:creationId xmlns:a16="http://schemas.microsoft.com/office/drawing/2014/main" id="{F5016057-E757-301A-2242-0CCDE88E5D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Picture 84" descr="vt_pr_do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8500" y="1279799"/>
            <a:ext cx="3827001" cy="3436646"/>
          </a:xfrm>
          <a:prstGeom prst="rect">
            <a:avLst/>
          </a:prstGeom>
        </p:spPr>
      </p:pic>
      <p:sp>
        <p:nvSpPr>
          <p:cNvPr id="22" name="Google Shape;316;p18">
            <a:extLst>
              <a:ext uri="{FF2B5EF4-FFF2-40B4-BE49-F238E27FC236}">
                <a16:creationId xmlns:a16="http://schemas.microsoft.com/office/drawing/2014/main" id="{66444DDC-9E4E-4FAE-7721-CA6B4AC865BD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46262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19" name="Google Shape;31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ROAD MAP: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ВКУСНО — И ТОЧКА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330" name="Picture 329" descr="vt_road_cro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9318" y="1379045"/>
            <a:ext cx="5938112" cy="2970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39" name="Google Shape;33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9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СПИСКА БЛОГЕРОВ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350" name="Picture 349" descr="vt_blog_cr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6638" y="1752290"/>
            <a:ext cx="6383473" cy="2224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 СМИ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53 500 000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633346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rbc.ru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экспертный материал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250 000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42 000 000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sostav.ru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экспертный материал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180 000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1 800 000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Forbes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экспертный материал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6 500 000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4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gazeta.ru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дайджест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150 000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3 200 000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341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ТГ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695 000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775757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Москва Ест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40 000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410 000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Дежурный по фастфуду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25 000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190 000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Что по акциям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18 000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95 000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761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</a:t>
            </a: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INST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950 000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24936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@igor.burgers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пост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60 000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620 000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@katya.streetfood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рилс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35 000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240 000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3</a:t>
                      </a: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@moscowfoodie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ссылка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сторис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20 000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Geologica"/>
                        </a:rPr>
                        <a:t>90 000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60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Forbes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6 500 000</a:t>
            </a:r>
            <a:endParaRPr sz="11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580" name="Picture 579" descr="loc3.jpg"/>
          <p:cNvPicPr>
            <a:picLocks noChangeAspect="1"/>
          </p:cNvPicPr>
          <p:nvPr/>
        </p:nvPicPr>
        <p:blipFill>
          <a:blip r:embed="rId12"/>
          <a:srcRect l="16718" r="16718"/>
          <a:stretch>
            <a:fillRect/>
          </a:stretch>
        </p:blipFill>
        <p:spPr>
          <a:xfrm>
            <a:off x="2452649" y="1185798"/>
            <a:ext cx="4238701" cy="35915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ТГ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Москва Ест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410 000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580" name="Picture 579" descr="loc3.jpg"/>
          <p:cNvPicPr>
            <a:picLocks noChangeAspect="1"/>
          </p:cNvPicPr>
          <p:nvPr/>
        </p:nvPicPr>
        <p:blipFill>
          <a:blip r:embed="rId12"/>
          <a:srcRect l="16718" r="16718"/>
          <a:stretch>
            <a:fillRect/>
          </a:stretch>
        </p:blipFill>
        <p:spPr>
          <a:xfrm>
            <a:off x="2452649" y="1185798"/>
            <a:ext cx="4238701" cy="359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0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INST: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@igor.burgers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620 000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580" name="Picture 579" descr="loc3.jpg"/>
          <p:cNvPicPr>
            <a:picLocks noChangeAspect="1"/>
          </p:cNvPicPr>
          <p:nvPr/>
        </p:nvPicPr>
        <p:blipFill>
          <a:blip r:embed="rId12"/>
          <a:srcRect l="16718" r="16718"/>
          <a:stretch>
            <a:fillRect/>
          </a:stretch>
        </p:blipFill>
        <p:spPr>
          <a:xfrm>
            <a:off x="2452649" y="1185798"/>
            <a:ext cx="4238701" cy="359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8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2410"/>
        </a:solidFill>
        <a:effectLst/>
      </p:bgPr>
    </p:bg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3" name="Google Shape;1913;p94"/>
          <p:cNvGrpSpPr/>
          <p:nvPr/>
        </p:nvGrpSpPr>
        <p:grpSpPr>
          <a:xfrm>
            <a:off x="3398983" y="2324017"/>
            <a:ext cx="2346033" cy="243398"/>
            <a:chOff x="3767138" y="2405063"/>
            <a:chExt cx="1606982" cy="166688"/>
          </a:xfrm>
        </p:grpSpPr>
        <p:pic>
          <p:nvPicPr>
            <p:cNvPr id="1914" name="Google Shape;1914;p94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25953" y="2407378"/>
              <a:ext cx="14816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5" name="Google Shape;1915;p94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82279" y="2405063"/>
              <a:ext cx="152796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6" name="Google Shape;1916;p94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22556" y="2407378"/>
              <a:ext cx="137749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7" name="Google Shape;1917;p94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84743" y="2407378"/>
              <a:ext cx="11691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8" name="Google Shape;1918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5315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9" name="Google Shape;1919;p94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50103" y="2407378"/>
              <a:ext cx="15742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94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276452" y="2407378"/>
              <a:ext cx="138906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1" name="Google Shape;1921;p94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29371" y="2407378"/>
              <a:ext cx="12617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2" name="Google Shape;1922;p94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936150" y="2405063"/>
              <a:ext cx="171317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3" name="Google Shape;1923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67138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4" name="Google Shape;1924;p94"/>
          <p:cNvSpPr/>
          <p:nvPr/>
        </p:nvSpPr>
        <p:spPr>
          <a:xfrm>
            <a:off x="8253434" y="4776788"/>
            <a:ext cx="705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</a:t>
            </a: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1925" name="Google Shape;1925;p94"/>
          <p:cNvSpPr/>
          <p:nvPr/>
        </p:nvSpPr>
        <p:spPr>
          <a:xfrm>
            <a:off x="2434790" y="2671875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БУТИКОВОЕ КОММУНИКАЦИОННОЕ </a:t>
            </a: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АГЕНТСТВО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</Words>
  <Application>Microsoft Office PowerPoint</Application>
  <PresentationFormat>Экран (16:9)</PresentationFormat>
  <Paragraphs>130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Geologica</vt:lpstr>
      <vt:lpstr>Helvetica Neue</vt:lpstr>
      <vt:lpstr>Geologica ExtraLight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Aleksandr Efimov</cp:lastModifiedBy>
  <cp:revision>3</cp:revision>
  <dcterms:modified xsi:type="dcterms:W3CDTF">2026-07-14T13:55:51Z</dcterms:modified>
</cp:coreProperties>
</file>